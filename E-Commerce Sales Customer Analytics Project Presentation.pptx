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2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54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241B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9333E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9333E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Analysis Using SQL, Power BI &amp; Excel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4709160"/>
            <a:ext cx="2743200" cy="0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RINSHID 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53035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|  Power Query  |  MySQL / SQL  |  Power BI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09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EANALYTICS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27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e-commerce sales, profitability, customer and operational performance using data analytics techniques.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71800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revenue performance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92424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category performance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813048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233672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contribution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654296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074920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cancellations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03720" y="1508760"/>
            <a:ext cx="4754880" cy="4892040"/>
          </a:xfrm>
          <a:prstGeom prst="roundRect">
            <a:avLst>
              <a:gd name="adj" fmla="val 1923"/>
            </a:avLst>
          </a:prstGeom>
          <a:solidFill>
            <a:srgbClr val="24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WORKFLOW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23760" y="2240280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22585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15784" y="2624328"/>
            <a:ext cx="0" cy="320040"/>
          </a:xfrm>
          <a:prstGeom prst="line">
            <a:avLst/>
          </a:prstGeom>
          <a:noFill/>
          <a:ln w="19050">
            <a:solidFill>
              <a:srgbClr val="C084F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223760" y="2953512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2953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2971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(Power Query)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15784" y="3337560"/>
            <a:ext cx="0" cy="320040"/>
          </a:xfrm>
          <a:prstGeom prst="line">
            <a:avLst/>
          </a:prstGeom>
          <a:noFill/>
          <a:ln w="19050">
            <a:solidFill>
              <a:srgbClr val="C084F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223760" y="3666744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36850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(MySQL)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15784" y="4050792"/>
            <a:ext cx="0" cy="320040"/>
          </a:xfrm>
          <a:prstGeom prst="line">
            <a:avLst/>
          </a:prstGeom>
          <a:noFill/>
          <a:ln w="19050">
            <a:solidFill>
              <a:srgbClr val="C084F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223760" y="4379976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439826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15784" y="4764024"/>
            <a:ext cx="0" cy="320040"/>
          </a:xfrm>
          <a:prstGeom prst="line">
            <a:avLst/>
          </a:prstGeom>
          <a:noFill/>
          <a:ln w="19050">
            <a:solidFill>
              <a:srgbClr val="C084F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223760" y="5093208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511149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15784" y="5477256"/>
            <a:ext cx="0" cy="320040"/>
          </a:xfrm>
          <a:prstGeom prst="line">
            <a:avLst/>
          </a:prstGeom>
          <a:noFill/>
          <a:ln w="19050">
            <a:solidFill>
              <a:srgbClr val="C084F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223760" y="5806440"/>
            <a:ext cx="384048" cy="38404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5806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0" y="582472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EC-ANALYTICS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D243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836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needed better visibility into sales performance, profitability, customer contribution and operational issues.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71800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overall sales and profit?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483864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perform best?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995928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generate the highest sales and profit?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07992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contribute most to revenue?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978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020056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major return and cancellation risks?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4184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532120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can improve business performance?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2651760"/>
            <a:ext cx="0" cy="3520440"/>
          </a:xfrm>
          <a:prstGeom prst="line">
            <a:avLst/>
          </a:prstGeom>
          <a:noFill/>
          <a:ln w="12700">
            <a:solidFill>
              <a:srgbClr val="D9C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651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08152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297180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59359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/>
          <p:nvPr/>
        </p:nvSpPr>
        <p:spPr>
          <a:xfrm>
            <a:off x="6647688" y="3483864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data model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4105656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3995928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SQL analysis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4617720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9"/>
          <p:cNvSpPr/>
          <p:nvPr/>
        </p:nvSpPr>
        <p:spPr>
          <a:xfrm>
            <a:off x="6647688" y="450799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business KPIs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512978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/>
          <p:nvPr/>
        </p:nvSpPr>
        <p:spPr>
          <a:xfrm>
            <a:off x="6647688" y="5020056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interactive Power BI dashboards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55080" y="564184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5" name="Text 33"/>
          <p:cNvSpPr/>
          <p:nvPr/>
        </p:nvSpPr>
        <p:spPr>
          <a:xfrm>
            <a:off x="6647688" y="553212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actionable business insights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e-commerce tables: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4206240" cy="15544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pricing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Order-level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17880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06908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Orders  (Customer_ID)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59028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48056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Order Details  (Order_ID)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00176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89204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Order Details  (Product_ID)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74920" y="1481328"/>
            <a:ext cx="6583680" cy="4937760"/>
          </a:xfrm>
          <a:prstGeom prst="roundRect">
            <a:avLst>
              <a:gd name="adj" fmla="val 1481"/>
            </a:avLst>
          </a:prstGeom>
          <a:solidFill>
            <a:srgbClr val="241B33"/>
          </a:solidFill>
          <a:ln/>
        </p:spPr>
      </p:sp>
      <p:sp>
        <p:nvSpPr>
          <p:cNvPr id="17" name="Text 14"/>
          <p:cNvSpPr/>
          <p:nvPr/>
        </p:nvSpPr>
        <p:spPr>
          <a:xfrm>
            <a:off x="5349240" y="16916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1100" dirty="0"/>
          </a:p>
        </p:txBody>
      </p:sp>
      <p:pic>
        <p:nvPicPr>
          <p:cNvPr id="18" name="Image 0" descr="images/data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977662"/>
            <a:ext cx="6035040" cy="231085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5562834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 built in Power BI, linking Customers, Orders, Order Details and Products through shared keys, with a dedicated Measures KPI table for DAX calculations.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SQL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EC-ANALYTICS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105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(Power Query)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242316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spaces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93522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" y="2825496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text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" y="3227832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1161288" y="3630168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14223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88" y="4032504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454456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1161288" y="443484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 records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94690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" y="4837176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numerical fields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241B33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18105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(MySQL)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 was used to analyze: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269748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98280" y="269748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0" y="3264408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26440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98280" y="3264408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326440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83680" y="3831336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83133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98280" y="3831336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40" name="Text 38"/>
          <p:cNvSpPr/>
          <p:nvPr/>
        </p:nvSpPr>
        <p:spPr>
          <a:xfrm>
            <a:off x="9098280" y="383133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83680" y="4398264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39826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098280" y="4398264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3A2C52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439826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cancellations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EC-ANALYTICS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241B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5.82M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810512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6448" y="1554480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24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385048" y="1810512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85048" y="256032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438144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52544" y="318211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24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3438144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81144" y="418795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56448" y="3182112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85048" y="3438144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341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385048" y="418795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09744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241B3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65776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72.69K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77240" y="581558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52544" y="4809744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81144" y="5065776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81144" y="581558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6448" y="4809744"/>
            <a:ext cx="3639312" cy="1463040"/>
          </a:xfrm>
          <a:prstGeom prst="roundRect">
            <a:avLst>
              <a:gd name="adj" fmla="val 6250"/>
            </a:avLst>
          </a:prstGeom>
          <a:solidFill>
            <a:srgbClr val="241B33"/>
          </a:solidFill>
          <a:ln/>
        </p:spPr>
      </p:sp>
      <p:sp>
        <p:nvSpPr>
          <p:cNvPr id="31" name="Text 29"/>
          <p:cNvSpPr/>
          <p:nvPr/>
        </p:nvSpPr>
        <p:spPr>
          <a:xfrm>
            <a:off x="8385048" y="5065776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385048" y="581558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Sales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view of overall sales performance — revenue, monthly trend, category, region, top products, order status.</a:t>
            </a:r>
            <a:endParaRPr lang="en-US" sz="1250" dirty="0"/>
          </a:p>
        </p:txBody>
      </p:sp>
      <p:pic>
        <p:nvPicPr>
          <p:cNvPr id="5" name="Image 0" descr="images/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335" y="1600200"/>
            <a:ext cx="8671026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&amp; Customer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 of profitability, customer contribution and regional performance.</a:t>
            </a:r>
            <a:endParaRPr lang="en-US" sz="1250" dirty="0"/>
          </a:p>
        </p:txBody>
      </p:sp>
      <p:pic>
        <p:nvPicPr>
          <p:cNvPr id="5" name="Image 0" descr="images/dashbo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18" y="1600200"/>
            <a:ext cx="8601259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EC-ANALYTICS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58775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48716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reached 5.82M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5643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35584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generated the highest sales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32511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22452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recorded the highest sales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19379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9320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recorded the highest monthly sales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0832" y="155448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24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645152" y="18288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199339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45152" y="2587752"/>
            <a:ext cx="128016" cy="12801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248716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generated the highest profit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45152" y="3456432"/>
            <a:ext cx="128016" cy="12801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335584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generated the highest profit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45152" y="4325112"/>
            <a:ext cx="128016" cy="12801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422452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followed a similar monthly pattern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5193792"/>
            <a:ext cx="128016" cy="12801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509320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contribution varied across categories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93024" y="155448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67344" y="18288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199339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Operations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67344" y="258775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8723376" y="248716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was 72.69K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67344" y="345643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4" name="Text 32"/>
          <p:cNvSpPr/>
          <p:nvPr/>
        </p:nvSpPr>
        <p:spPr>
          <a:xfrm>
            <a:off x="8723376" y="335584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was 21%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67344" y="432511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6" name="Text 34"/>
          <p:cNvSpPr/>
          <p:nvPr/>
        </p:nvSpPr>
        <p:spPr>
          <a:xfrm>
            <a:off x="8723376" y="4224528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was 10%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39312" cy="48920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3639312" cy="502920"/>
          </a:xfrm>
          <a:prstGeom prst="roundRect">
            <a:avLst>
              <a:gd name="adj" fmla="val 18182"/>
            </a:avLst>
          </a:prstGeom>
          <a:solidFill>
            <a:srgbClr val="9333E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3639312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HIGHEST SALES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Audio Pack 14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277977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6700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741,104.32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072384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22 units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58444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747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contribution from East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3877056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CUST0017 purchased all 8 East units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E7F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39512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5458968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sales volume and high selling price concentrated around a key Electronics product.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70832" y="1508760"/>
            <a:ext cx="3639312" cy="48920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70832" y="1508760"/>
            <a:ext cx="3639312" cy="502920"/>
          </a:xfrm>
          <a:prstGeom prst="roundRect">
            <a:avLst>
              <a:gd name="adj" fmla="val 18182"/>
            </a:avLst>
          </a:prstGeom>
          <a:solidFill>
            <a:srgbClr val="9333E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1828800"/>
            <a:ext cx="3639312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1508760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— HIGHEST SALES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99432" y="21488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Outdoor Set 72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599432" y="277977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9744" y="26700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176,761.80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99432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9744" y="3072384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6 units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99432" y="358444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4747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CUST0013 purchased all 6 units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53712" y="516636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E7FB"/>
          </a:solidFill>
          <a:ln/>
        </p:spPr>
      </p:sp>
      <p:sp>
        <p:nvSpPr>
          <p:cNvPr id="34" name="Text 32"/>
          <p:cNvSpPr/>
          <p:nvPr/>
        </p:nvSpPr>
        <p:spPr>
          <a:xfrm>
            <a:off x="4690872" y="5239512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90872" y="5458968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sales were significantly supported by a high-performing product and concentrated customer demand.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93024" y="1508760"/>
            <a:ext cx="3639312" cy="48920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333E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93024" y="1508760"/>
            <a:ext cx="3639312" cy="502920"/>
          </a:xfrm>
          <a:prstGeom prst="roundRect">
            <a:avLst>
              <a:gd name="adj" fmla="val 18182"/>
            </a:avLst>
          </a:prstGeom>
          <a:solidFill>
            <a:srgbClr val="9333EA"/>
          </a:solidFill>
          <a:ln/>
        </p:spPr>
      </p:sp>
      <p:sp>
        <p:nvSpPr>
          <p:cNvPr id="38" name="Shape 36"/>
          <p:cNvSpPr/>
          <p:nvPr/>
        </p:nvSpPr>
        <p:spPr>
          <a:xfrm>
            <a:off x="8193024" y="1828800"/>
            <a:ext cx="3639312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9" name="Text 37"/>
          <p:cNvSpPr/>
          <p:nvPr/>
        </p:nvSpPr>
        <p:spPr>
          <a:xfrm>
            <a:off x="8375904" y="1508760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— HIGHEST SALES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21624" y="214884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Equipment Set 80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8421624" y="277977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2" name="Text 40"/>
          <p:cNvSpPr/>
          <p:nvPr/>
        </p:nvSpPr>
        <p:spPr>
          <a:xfrm>
            <a:off x="8631936" y="2670048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197,274.32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21624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4" name="Text 42"/>
          <p:cNvSpPr/>
          <p:nvPr/>
        </p:nvSpPr>
        <p:spPr>
          <a:xfrm>
            <a:off x="8631936" y="3072384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8 units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21624" y="358444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6" name="Text 44"/>
          <p:cNvSpPr/>
          <p:nvPr/>
        </p:nvSpPr>
        <p:spPr>
          <a:xfrm>
            <a:off x="8631936" y="34747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units sold in South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21624" y="398678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8" name="Text 46"/>
          <p:cNvSpPr/>
          <p:nvPr/>
        </p:nvSpPr>
        <p:spPr>
          <a:xfrm>
            <a:off x="8631936" y="3877056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CUST0057 purchased all 8 units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75904" y="516636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E7FB"/>
          </a:solidFill>
          <a:ln/>
        </p:spPr>
      </p:sp>
      <p:sp>
        <p:nvSpPr>
          <p:cNvPr id="50" name="Text 48"/>
          <p:cNvSpPr/>
          <p:nvPr/>
        </p:nvSpPr>
        <p:spPr>
          <a:xfrm>
            <a:off x="8513064" y="5239512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13064" y="5458968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August's peak was strongly influenced by a high-value product transaction.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6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57255" y="457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High-Performing Electronics Products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19933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availability and analyze successful pricing and demand characteristics.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24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980944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28712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Concentration in Central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customer base and target similar customer segments.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20624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August Sales Patterns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444398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products, regions and demand factors behind the August peak.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241B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31536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321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High-Profit Products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71600" y="5669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products such as Elite Audio Pack 14 and monitor their margins.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1536192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73368" y="1755648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3368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95160" y="1645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High-Profit Customer Contributions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95160" y="19933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individual high-value customers.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761488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241B33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3368" y="2980944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95160" y="28712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 Returns in West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95160" y="32186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product, delivery, fulfillment and customer-expectation issues.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3986784"/>
            <a:ext cx="5349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333E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73368" y="420624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8" name="Text 36"/>
          <p:cNvSpPr/>
          <p:nvPr/>
        </p:nvSpPr>
        <p:spPr>
          <a:xfrm>
            <a:off x="6373368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995160" y="4096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Cancellations in Central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995160" y="444398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payment processing, stock availability, order confirmation and fulfillment.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41B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9333E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transformed raw e-commerce data into actionable business insights using Excel, Power Query, SQL and Power BI.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87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major sales and profit drivers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product and regional performance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284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customer contribution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return and cancellation risks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146304" cy="146304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data-driven business recommendations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41B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074920"/>
            <a:ext cx="82296" cy="0"/>
          </a:xfrm>
          <a:prstGeom prst="roundRect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“Data-driven analysis can help businesses understand performance, identify opportunities and make better decisions.”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05895" y="6510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828</Words>
  <Application>Microsoft Office PowerPoint</Application>
  <PresentationFormat>Widescreen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2026-09-03T08:03:14Z</dcterms:created>
  <dcterms:modified xsi:type="dcterms:W3CDTF">2026-09-03T08:21:15Z</dcterms:modified>
</cp:coreProperties>
</file>